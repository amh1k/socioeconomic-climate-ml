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Macro-Averaged R²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R²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CAE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CAE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C94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Ridge</c:v>
                  </c:pt>
                  <c:pt idx="1">
                    <c:v>Decision Tree</c:v>
                  </c:pt>
                  <c:pt idx="2">
                    <c:v>LightGBM</c:v>
                  </c:pt>
                  <c:pt idx="3">
                    <c:v>XGBoost (Def)</c:v>
                  </c:pt>
                  <c:pt idx="4">
                    <c:v>Random Forest</c:v>
                  </c:pt>
                  <c:pt idx="5">
                    <c:v>XGBoost (Tuned)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0.001</c:v>
                </c:pt>
                <c:pt idx="1">
                  <c:v>0.265</c:v>
                </c:pt>
                <c:pt idx="2">
                  <c:v>0.309</c:v>
                </c:pt>
                <c:pt idx="3">
                  <c:v>0.311</c:v>
                </c:pt>
                <c:pt idx="4">
                  <c:v>0.323</c:v>
                </c:pt>
                <c:pt idx="5">
                  <c:v>0.325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640080"/>
            <a:ext cx="2286000" cy="2286000"/>
          </a:xfrm>
          <a:prstGeom prst="ellipse">
            <a:avLst/>
          </a:prstGeom>
          <a:solidFill>
            <a:srgbClr val="1B998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-182880"/>
            <a:ext cx="1645920" cy="1645920"/>
          </a:xfrm>
          <a:prstGeom prst="ellipse">
            <a:avLst/>
          </a:prstGeom>
          <a:solidFill>
            <a:srgbClr val="3CAEA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Drivers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Climate Change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Multi-Target Machine Learning Analysis (1900–2023)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91440" cy="9144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99232"/>
            <a:ext cx="91440" cy="9144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999232"/>
            <a:ext cx="91440" cy="9144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2999232"/>
            <a:ext cx="91440" cy="9144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32918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B998B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337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32918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B998B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3337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5176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918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B998B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337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0060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32918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B998B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3337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4944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480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CA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Moiz Hussain  ·  Muhammed Abdullah Khan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754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CS4048 Data Science · FAST NUCES, Karachi · 01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502920" cy="11430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1556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objectives &amp; scope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331720"/>
            <a:ext cx="502920" cy="11430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33172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44144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80720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data: 195 countries × 123 years; key correlations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6576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657600"/>
            <a:ext cx="502920" cy="11430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65760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7673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1330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Per-capita, temporal lags, rolling windows, interactions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1005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005840"/>
            <a:ext cx="502920" cy="11430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0058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111556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Tuning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148132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→ Decision Tree → RF → XGBoost → LightGBM + Optuna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3317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331720"/>
            <a:ext cx="502920" cy="11430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33172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244144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SHAP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280720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 asymmetry, feature importance, dependence plots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36576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657600"/>
            <a:ext cx="502920" cy="11430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65760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37673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Policy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41330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sustainable development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8288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treat emission trajectories and temperature anomalies as isolated tasks, neglecting temporal dependencies, multi-target interactions, and interpretability. The independent predictive power of socioeconomic indicators is rarely isolated.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5029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926080"/>
            <a:ext cx="64008" cy="1828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718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19272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temporally validated multi-output ML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predict Temperature Anomaly &amp; CO₂ Emissions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for global &amp; local interpretability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policy scenarios via a Digital Twin Lite framework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960120"/>
            <a:ext cx="3200400" cy="37947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1051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554480"/>
            <a:ext cx="182880" cy="1828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5087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Century-scale panel data across 195 countries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2176272"/>
            <a:ext cx="182880" cy="1828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13055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Zero-leakage time-series CV (expanded window)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0" y="2798064"/>
            <a:ext cx="182880" cy="1828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275234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engineered features incl. Policy-GDP interaction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3419856"/>
            <a:ext cx="182880" cy="1828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337413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threshold effects for policy targeting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4041648"/>
            <a:ext cx="182880" cy="1828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39959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modular notebook pipeline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868680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195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435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2743200" cy="868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011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123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441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A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(1900–2023)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971800"/>
            <a:ext cx="2743200" cy="868680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20+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" y="34472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977640"/>
            <a:ext cx="2743200" cy="868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4023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" y="4453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A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937760"/>
            <a:ext cx="2743200" cy="548640"/>
          </a:xfrm>
          <a:prstGeom prst="rect">
            <a:avLst/>
          </a:prstGeom>
          <a:solidFill>
            <a:srgbClr val="F2C94C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937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Imputation: Time-aware KNN · Scaling: RobustScaler</a:t>
            </a:r>
            <a:endParaRPr lang="en-US" sz="9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914400"/>
            <a:ext cx="5486400" cy="274320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3794760"/>
            <a:ext cx="5486400" cy="1645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37560" y="5440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vs CO₂ scatter (top) | Global target trends 1900–2023 (bottom)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Target Correlations &amp; Predictability Gap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960120"/>
            <a:ext cx="2834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960120"/>
            <a:ext cx="64008" cy="17830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Text 4"/>
          <p:cNvSpPr/>
          <p:nvPr/>
        </p:nvSpPr>
        <p:spPr>
          <a:xfrm>
            <a:off x="6172200" y="10698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1435608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linear correlation with GDP, Population &amp; Energy. Highly forecastable.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35040" y="2971800"/>
            <a:ext cx="2834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0" y="2971800"/>
            <a:ext cx="64008" cy="17830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30815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Anomaly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72200" y="3447288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linear correlation with socioeconomic variables. Physical climate dominates.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35040" y="4983480"/>
            <a:ext cx="2834640" cy="502920"/>
          </a:xfrm>
          <a:prstGeom prst="rect">
            <a:avLst/>
          </a:prstGeom>
          <a:solidFill>
            <a:srgbClr val="F2C94C">
              <a:alpha val="7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080760" y="4983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This asymmetry drives our multi-target design with separate SHAP analyses per target.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74320" y="46177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heatmap for both targets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4114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Per-Capita Metrics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48132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Capita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per Capita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160520" cy="411480"/>
          </a:xfrm>
          <a:prstGeom prst="rect">
            <a:avLst/>
          </a:prstGeom>
          <a:solidFill>
            <a:srgbClr val="3CAEA3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&amp; Interaction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48132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Ratio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× GDP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 indicator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17520"/>
            <a:ext cx="416052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34930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lag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lag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country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4160520" cy="411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4930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rolling mean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rolling std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trend capture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983480"/>
            <a:ext cx="850392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834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 set: Top 20 by RF importance · Temporal sort prevents leakage · RobustScaler applied post-split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554480" cy="914400"/>
          </a:xfrm>
          <a:prstGeom prst="rect">
            <a:avLst/>
          </a:prstGeom>
          <a:solidFill>
            <a:srgbClr val="4A657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1900–2023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1325880"/>
            <a:ext cx="274320" cy="109728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960120"/>
            <a:ext cx="1554480" cy="914400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960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Imputation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1325880"/>
            <a:ext cx="274320" cy="109728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960120"/>
            <a:ext cx="1554480" cy="914400"/>
          </a:xfrm>
          <a:prstGeom prst="rect">
            <a:avLst/>
          </a:prstGeom>
          <a:solidFill>
            <a:srgbClr val="3CAEA3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960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325880"/>
            <a:ext cx="274320" cy="109728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0720" y="960120"/>
            <a:ext cx="1554480" cy="914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960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(pre-2010)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1325880"/>
            <a:ext cx="274320" cy="109728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6" name="Shape 14"/>
          <p:cNvSpPr/>
          <p:nvPr/>
        </p:nvSpPr>
        <p:spPr>
          <a:xfrm>
            <a:off x="7589520" y="960120"/>
            <a:ext cx="1554480" cy="914400"/>
          </a:xfrm>
          <a:prstGeom prst="rect">
            <a:avLst/>
          </a:prstGeom>
          <a:solidFill>
            <a:srgbClr val="E76F5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960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57400"/>
          <a:ext cx="8503920" cy="256032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182880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Tuning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Ridge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Linear 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Instant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Non-linear 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&lt; 1s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Ensemble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~316s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XGBoost (Default)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Gradient Boost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~2s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998B"/>
                          </a:solidFill>
                        </a:rPr>
                        <a:t>XGBoost (Tuned) 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Gradient Boost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Optuna 3-fold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~1s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LightGBM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Gradient Boost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&lt; 1s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model — selected by macro-averaged R² via Optuna hyperparameter search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Results: Model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01168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0.98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(XGBoost/RF/LGBM)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96312" y="960120"/>
            <a:ext cx="201168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96312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Anomaly R² (all models)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72584" y="960120"/>
            <a:ext cx="201168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72584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Macro R² (XGBoost Tuned)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48856" y="960120"/>
            <a:ext cx="201168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48856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A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48856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train time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20040" y="219456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577840" y="2194560"/>
            <a:ext cx="32461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69280" y="22860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69280" y="2670048"/>
            <a:ext cx="30632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is highly predictable (R² &gt;0.98) via tree ensembles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anomaly: negative R² across ALL models — a scientific finding, not a failure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baseline fails for CO₂ (R²≈0) — non-linearity is essential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Tuned best macro R²; RF best CO₂ R² but 316× slower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gain modest (+0.014) — architecture matters more than hyperparams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Interpretation: CO₂ Emissions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30352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160520"/>
            <a:ext cx="5303520" cy="10058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60120"/>
          <a:ext cx="3063240" cy="2468880"/>
        </p:xfrm>
        <a:graphic>
          <a:graphicData uri="http://schemas.openxmlformats.org/drawingml/2006/table">
            <a:tbl>
              <a:tblPr/>
              <a:tblGrid>
                <a:gridCol w="457200"/>
                <a:gridCol w="141732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SHAP Importance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CO₂ per Capita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130.6M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Population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86.2M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Ocean Acidification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222,938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Air Pollution Index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163,466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Arctic Ice Extent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131,302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760720" y="3520440"/>
            <a:ext cx="3063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5760720" y="3520440"/>
            <a:ext cx="64008" cy="150876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9" name="Text 4"/>
          <p:cNvSpPr/>
          <p:nvPr/>
        </p:nvSpPr>
        <p:spPr>
          <a:xfrm>
            <a:off x="589788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897880" y="3913632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economic scale dominate CO₂ prediction. SHAP dependence plots confirm monotonic, near-linear relationships — every additional billion people adds ~86M SHAP units to emissions.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Interpretation: Temperature &amp; Marginal Effects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114800" cy="24688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297680" cy="2468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34015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SHAP beeswarm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572000" y="340156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SHAP effects (decile-binned)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74320" y="3703320"/>
            <a:ext cx="4160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3703320"/>
            <a:ext cx="64008" cy="13716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6"/>
          <p:cNvSpPr/>
          <p:nvPr/>
        </p:nvSpPr>
        <p:spPr>
          <a:xfrm>
            <a:off x="438912" y="3749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Diffuse Signals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38912" y="4096512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Urbanization &amp; Deforestation are top SHAP drivers yet importance values are ~0.007 — orders of magnitude below CO₂ drivers. Negative R² confirms these signals are insufficient for reliable prediction.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09160" y="3703320"/>
            <a:ext cx="4160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9160" y="3703320"/>
            <a:ext cx="64008" cy="13716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4" name="Text 10"/>
          <p:cNvSpPr/>
          <p:nvPr/>
        </p:nvSpPr>
        <p:spPr>
          <a:xfrm>
            <a:off x="4873752" y="3749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Threshold Effects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73752" y="4096512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marginal plots reveal that policy interventions only emerge at the &gt;90th percentile of urbanization. Uniform national strategies are less effective than targeted interventions in hyper-urbanized regions.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Model Analysis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133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across CO₂ R², Temp R², Macro R² and Training Time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989320" y="960120"/>
            <a:ext cx="2834640" cy="12344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960120"/>
            <a:ext cx="64008" cy="12344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0515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wins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13990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LightGBM match RF accuracy in &lt;1s vs 316s — clear production choice.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2377440"/>
            <a:ext cx="28346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2377440"/>
            <a:ext cx="64008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2468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required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8163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R²≈0.001 for CO₂ vs XGBoost R²=0.987 — tree-based essential.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89320" y="3794760"/>
            <a:ext cx="28346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3794760"/>
            <a:ext cx="64008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38862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marginal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0" y="42336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raised macro R² from 0.311 → 0.325. Architecture choice matters more.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989320" y="5239512"/>
            <a:ext cx="2834640" cy="36576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52395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XGBoost Tuned for production; DT for auditability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1B998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3CAEA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828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Policy Insights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64008" cy="1691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143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CO₂ is Forecastable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554480"/>
            <a:ext cx="3822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&gt;0.98 confirms strong deterministic links between economic scale and aggregate emissions. Gradient boosting is the tool of choice.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64008" cy="1691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143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Temperature Needs Physics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554480"/>
            <a:ext cx="3822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R² across all models is not a failure—it's a discovery. Physical ocean/aerosol dynamics are indispensable for thermal forecasting.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926080"/>
            <a:ext cx="64008" cy="1691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Urban Threshold Policy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" y="3429000"/>
            <a:ext cx="3822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reveals policy measures only trigger meaningful CO₂ reductions above the 90th urbanization percentile. Target hyper-urban regions first.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26080"/>
            <a:ext cx="64008" cy="1691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Green Infrastructure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429000"/>
            <a:ext cx="3822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Urbanization × Policy interaction drives non-linear outcomes. Investing in green infrastructure in dense cities yields the highest leverage.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8646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CA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Integrate physical climate variables · Apply causal ML · Expand to real-time streaming data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99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B2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D1B2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246120"/>
            <a:ext cx="27432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20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github.com/amh1k/socioeconomic-climate-ml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Moiz Hussain (23K-0553) · Muhammed Abdullah Khan (23K-0607)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407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CS4048 Data Science · FAST NUCES Karachi ·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Socioeconomic Drivers of Climate Change: Multi-Target ML Analysis</dc:title>
  <dc:subject>PptxGenJS Presentation</dc:subject>
  <dc:creator>Abdul Moiz Hussain &amp; Muhammed Abdullah Khan</dc:creator>
  <cp:lastModifiedBy>Abdul Moiz Hussain &amp; Muhammed Abdullah Khan</cp:lastModifiedBy>
  <cp:revision>1</cp:revision>
  <dcterms:created xsi:type="dcterms:W3CDTF">2026-05-01T17:18:00Z</dcterms:created>
  <dcterms:modified xsi:type="dcterms:W3CDTF">2026-05-01T17:18:00Z</dcterms:modified>
</cp:coreProperties>
</file>